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C8963E"/>
          </a:solidFill>
          <a:ln w="12700">
            <a:solidFill>
              <a:srgbClr val="C896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188720"/>
            <a:ext cx="5486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0" b="1" spc="8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VASI</a:t>
            </a:r>
            <a:endParaRPr lang="en-US" sz="8000" dirty="0"/>
          </a:p>
        </p:txBody>
      </p:sp>
      <p:sp>
        <p:nvSpPr>
          <p:cNvPr id="4" name="Text 2"/>
          <p:cNvSpPr/>
          <p:nvPr/>
        </p:nvSpPr>
        <p:spPr>
          <a:xfrm>
            <a:off x="457200" y="265176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89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Dijital Miras Platformu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324612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E8E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"Sevgin yasamaya devam etsin."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4480560"/>
            <a:ext cx="5486400" cy="18288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45720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Pre-Seed Pitch  |  Mayis 2026  |  Gizli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C8963E"/>
                </a:solidFill>
              </a:rPr>
              <a:t>PROBLEM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Soylenmemis Sozler Yok Olup Gidiyor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280160"/>
            <a:ext cx="84124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FF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280160"/>
            <a:ext cx="45720" cy="658368"/>
          </a:xfrm>
          <a:prstGeom prst="rect">
            <a:avLst/>
          </a:prstGeom>
          <a:solidFill>
            <a:srgbClr val="C8963E"/>
          </a:solidFill>
          <a:ln w="12700">
            <a:solidFill>
              <a:srgbClr val="C8963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389888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💬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005840" y="1417320"/>
            <a:ext cx="7589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10 kisi'den 7'si onemli bir seyi sevdiklerine soylememis hisseder.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" y="2084832"/>
            <a:ext cx="84124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FF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2084832"/>
            <a:ext cx="45720" cy="658368"/>
          </a:xfrm>
          <a:prstGeom prst="rect">
            <a:avLst/>
          </a:prstGeom>
          <a:solidFill>
            <a:srgbClr val="C8963E"/>
          </a:solidFill>
          <a:ln w="12700">
            <a:solidFill>
              <a:srgbClr val="C8963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19456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⏳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005840" y="2221992"/>
            <a:ext cx="7589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 kayiplar, planlanmamis gidisler — veda firsati hic gelmeyebilir.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65760" y="2889504"/>
            <a:ext cx="84124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FF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889504"/>
            <a:ext cx="45720" cy="658368"/>
          </a:xfrm>
          <a:prstGeom prst="rect">
            <a:avLst/>
          </a:prstGeom>
          <a:solidFill>
            <a:srgbClr val="C8963E"/>
          </a:solidFill>
          <a:ln w="12700">
            <a:solidFill>
              <a:srgbClr val="C8963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2999232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🔒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005840" y="3026664"/>
            <a:ext cx="7589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Noterlere, vasiyetnamelere kisisel duygusal mesajlar siginmaz.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65760" y="3694176"/>
            <a:ext cx="84124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FF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65760" y="3694176"/>
            <a:ext cx="45720" cy="658368"/>
          </a:xfrm>
          <a:prstGeom prst="rect">
            <a:avLst/>
          </a:prstGeom>
          <a:solidFill>
            <a:srgbClr val="C8963E"/>
          </a:solidFill>
          <a:ln w="12700">
            <a:solidFill>
              <a:srgbClr val="C8963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3803904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🌍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1005840" y="3831336"/>
            <a:ext cx="7589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Turkiye'de bu sorunu cozen yerli, guvenilir, yerel dilli hicbir platform yok.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503920" y="48006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8963E"/>
          </a:solidFill>
          <a:ln w="12700">
            <a:solidFill>
              <a:srgbClr val="C896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C8963E"/>
                </a:solidFill>
              </a:rPr>
              <a:t>SOLUTION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Vasi: Son Sozunuzu Guvenle Biraktiginiz Platform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325880"/>
            <a:ext cx="2651760" cy="1417320"/>
          </a:xfrm>
          <a:prstGeom prst="rect">
            <a:avLst/>
          </a:prstGeom>
          <a:solidFill>
            <a:srgbClr val="15253A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325880"/>
            <a:ext cx="54864" cy="1417320"/>
          </a:xfrm>
          <a:prstGeom prst="rect">
            <a:avLst/>
          </a:prstGeom>
          <a:solidFill>
            <a:srgbClr val="C8963E"/>
          </a:solidFill>
          <a:ln w="12700">
            <a:solidFill>
              <a:srgbClr val="C8963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417320"/>
            <a:ext cx="411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🎙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02920" y="1783080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 / Video / Yazi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" y="2075688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Sesi, yuzunu ya da yazilarini kaydet. Her format desteklenir.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200400" y="1325880"/>
            <a:ext cx="2651760" cy="1417320"/>
          </a:xfrm>
          <a:prstGeom prst="rect">
            <a:avLst/>
          </a:prstGeom>
          <a:solidFill>
            <a:srgbClr val="15253A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00400" y="1325880"/>
            <a:ext cx="54864" cy="1417320"/>
          </a:xfrm>
          <a:prstGeom prst="rect">
            <a:avLst/>
          </a:prstGeom>
          <a:solidFill>
            <a:srgbClr val="C8963E"/>
          </a:solidFill>
          <a:ln w="12700">
            <a:solidFill>
              <a:srgbClr val="C8963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37560" y="1417320"/>
            <a:ext cx="411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👤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337560" y="1783080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Alici Sec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337560" y="2075688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E-posta, telefon veya adresle sevdiklerini belirle.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035040" y="1325880"/>
            <a:ext cx="2651760" cy="1417320"/>
          </a:xfrm>
          <a:prstGeom prst="rect">
            <a:avLst/>
          </a:prstGeom>
          <a:solidFill>
            <a:srgbClr val="15253A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035040" y="1325880"/>
            <a:ext cx="54864" cy="1417320"/>
          </a:xfrm>
          <a:prstGeom prst="rect">
            <a:avLst/>
          </a:prstGeom>
          <a:solidFill>
            <a:srgbClr val="C8963E"/>
          </a:solidFill>
          <a:ln w="12700">
            <a:solidFill>
              <a:srgbClr val="C8963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72200" y="1417320"/>
            <a:ext cx="411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🔐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172200" y="1783080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Guvenli Sakla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172200" y="2075688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AES-256 sifreleme; sadece sen ve alicin erisir.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65760" y="2926080"/>
            <a:ext cx="2651760" cy="1417320"/>
          </a:xfrm>
          <a:prstGeom prst="rect">
            <a:avLst/>
          </a:prstGeom>
          <a:solidFill>
            <a:srgbClr val="15253A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65760" y="2926080"/>
            <a:ext cx="54864" cy="1417320"/>
          </a:xfrm>
          <a:prstGeom prst="rect">
            <a:avLst/>
          </a:prstGeom>
          <a:solidFill>
            <a:srgbClr val="C8963E"/>
          </a:solidFill>
          <a:ln w="12700">
            <a:solidFill>
              <a:srgbClr val="C8963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3017520"/>
            <a:ext cx="411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✅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502920" y="3383280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Dogrulanmis Iletim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02920" y="3675888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Devlet API (MERNIS) + guvenilir kisi bildirimi ile tetikleme.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200400" y="2926080"/>
            <a:ext cx="2651760" cy="1417320"/>
          </a:xfrm>
          <a:prstGeom prst="rect">
            <a:avLst/>
          </a:prstGeom>
          <a:solidFill>
            <a:srgbClr val="15253A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200400" y="2926080"/>
            <a:ext cx="54864" cy="1417320"/>
          </a:xfrm>
          <a:prstGeom prst="rect">
            <a:avLst/>
          </a:prstGeom>
          <a:solidFill>
            <a:srgbClr val="C8963E"/>
          </a:solidFill>
          <a:ln w="12700">
            <a:solidFill>
              <a:srgbClr val="C8963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337560" y="3017520"/>
            <a:ext cx="411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🗓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3337560" y="3383280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Yillik Abonelik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337560" y="3675888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Uygun fiyatli plan; istedikce guncelle.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035040" y="2926080"/>
            <a:ext cx="2651760" cy="1417320"/>
          </a:xfrm>
          <a:prstGeom prst="rect">
            <a:avLst/>
          </a:prstGeom>
          <a:solidFill>
            <a:srgbClr val="15253A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035040" y="2926080"/>
            <a:ext cx="54864" cy="1417320"/>
          </a:xfrm>
          <a:prstGeom prst="rect">
            <a:avLst/>
          </a:prstGeom>
          <a:solidFill>
            <a:srgbClr val="C8963E"/>
          </a:solidFill>
          <a:ln w="12700">
            <a:solidFill>
              <a:srgbClr val="C8963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172200" y="3017520"/>
            <a:ext cx="411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📬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6172200" y="3383280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Otomatik Teslimat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172200" y="3675888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Tetiklendiginde mesajin aliciya ulasir — sen olmasan da.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8503920" y="48006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C8963E"/>
                </a:solidFill>
              </a:rPr>
              <a:t>MARKET OPPORTUNITY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Buyuk ve Hizla Buyuyen Bir Pazar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228600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FF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371600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$21B+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02920" y="196596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Dijital Miras Pazar Buyuklugu (2025)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65760" y="2697480"/>
            <a:ext cx="228600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FF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2834640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%17 CAGR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502920" y="342900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Yillik Buyume Hizi — 2034'e kadar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017520" y="3657600"/>
            <a:ext cx="5669280" cy="18288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383280" y="2761488"/>
            <a:ext cx="777240" cy="896112"/>
          </a:xfrm>
          <a:prstGeom prst="rect">
            <a:avLst/>
          </a:prstGeom>
          <a:solidFill>
            <a:srgbClr val="E8EFF5"/>
          </a:solidFill>
          <a:ln w="12700">
            <a:solidFill>
              <a:srgbClr val="E8EFF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46120" y="2487168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$21B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246120" y="3730752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800600" y="2377440"/>
            <a:ext cx="777240" cy="1280160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63440" y="2103120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$30B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663440" y="3730752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2027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217920" y="1780032"/>
            <a:ext cx="777240" cy="18775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080760" y="1505712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$44B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080760" y="3730752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2030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635240" y="1267968"/>
            <a:ext cx="777240" cy="2389632"/>
          </a:xfrm>
          <a:prstGeom prst="rect">
            <a:avLst/>
          </a:prstGeom>
          <a:solidFill>
            <a:srgbClr val="C8963E"/>
          </a:solidFill>
          <a:ln w="12700">
            <a:solidFill>
              <a:srgbClr val="C8963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498080" y="993648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$56B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498080" y="3730752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2034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65760" y="4114800"/>
            <a:ext cx="841248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42062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Turkiye: 85M nufus, 68M internet kullanicisi, 0 yerel dijital miras platformu. Hedef SAM: 200K kayitli kullanici (Yil 3).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503920" y="48006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8963E"/>
          </a:solidFill>
          <a:ln w="12700">
            <a:solidFill>
              <a:srgbClr val="C896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C8963E"/>
                </a:solidFill>
              </a:rPr>
              <a:t>PRODUCT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Nasil Calisir? — 5 Adim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31520" y="1234440"/>
            <a:ext cx="822960" cy="822960"/>
          </a:xfrm>
          <a:prstGeom prst="oval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261872"/>
            <a:ext cx="8229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1645920" y="1591056"/>
            <a:ext cx="365760" cy="36576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2240280"/>
            <a:ext cx="160020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FF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" y="2240280"/>
            <a:ext cx="1600200" cy="54864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2340864"/>
            <a:ext cx="1417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Kayit Ol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65760" y="2724912"/>
            <a:ext cx="1417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 Kimlik ile kimlik dogrulama; plan sec.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487168" y="1234440"/>
            <a:ext cx="822960" cy="822960"/>
          </a:xfrm>
          <a:prstGeom prst="oval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487168" y="1261872"/>
            <a:ext cx="8229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3401568" y="1591056"/>
            <a:ext cx="365760" cy="36576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29968" y="2240280"/>
            <a:ext cx="160020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FF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029968" y="2240280"/>
            <a:ext cx="1600200" cy="54864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121408" y="2340864"/>
            <a:ext cx="1417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Mesaj Olustur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121408" y="2724912"/>
            <a:ext cx="1417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Ses, video veya yazili icerik gir.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242816" y="1234440"/>
            <a:ext cx="822960" cy="822960"/>
          </a:xfrm>
          <a:prstGeom prst="oval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242816" y="1261872"/>
            <a:ext cx="8229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5157216" y="1591056"/>
            <a:ext cx="365760" cy="36576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785616" y="2240280"/>
            <a:ext cx="160020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FF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785616" y="2240280"/>
            <a:ext cx="1600200" cy="54864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877056" y="2340864"/>
            <a:ext cx="1417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Alici Belirle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877056" y="2724912"/>
            <a:ext cx="1417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Sevdiklerinin iletisim bilgilerini gir.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998464" y="1234440"/>
            <a:ext cx="822960" cy="822960"/>
          </a:xfrm>
          <a:prstGeom prst="oval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998464" y="1261872"/>
            <a:ext cx="8229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8" name="Shape 26"/>
          <p:cNvSpPr/>
          <p:nvPr/>
        </p:nvSpPr>
        <p:spPr>
          <a:xfrm>
            <a:off x="6912864" y="1591056"/>
            <a:ext cx="365760" cy="36576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541264" y="2240280"/>
            <a:ext cx="160020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FF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541264" y="2240280"/>
            <a:ext cx="1600200" cy="54864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632704" y="2340864"/>
            <a:ext cx="1417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Kilitle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632704" y="2724912"/>
            <a:ext cx="1417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Mesaj sifrelenerek guvence altina alinir.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7754112" y="1234440"/>
            <a:ext cx="822960" cy="822960"/>
          </a:xfrm>
          <a:prstGeom prst="oval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754112" y="1261872"/>
            <a:ext cx="8229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35" name="Shape 33"/>
          <p:cNvSpPr/>
          <p:nvPr/>
        </p:nvSpPr>
        <p:spPr>
          <a:xfrm>
            <a:off x="7296912" y="2240280"/>
            <a:ext cx="160020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FF5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296912" y="2240280"/>
            <a:ext cx="1600200" cy="54864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388352" y="2340864"/>
            <a:ext cx="1417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Otomatik Iletim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7388352" y="2724912"/>
            <a:ext cx="1417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Tetikleme sonrasi mesaj aliciya ulasirir.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365760" y="429768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Olum teyidi: Devlet NVI/MERNIS API (Faz 2) veya Guvenilir Kisi bildirimi (Faz 1 Mock)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8503920" y="48006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C8963E"/>
                </a:solidFill>
              </a:rPr>
              <a:t>BUSINESS MODEL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Yillik Abonelik + B2B Kanal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1234440"/>
            <a:ext cx="1645920" cy="347472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261872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965960" y="1234440"/>
            <a:ext cx="1828800" cy="347472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011680" y="1261872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Fiyat / Yil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794760" y="1234440"/>
            <a:ext cx="1737360" cy="347472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40480" y="1261872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Icerik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532120" y="1234440"/>
            <a:ext cx="3017520" cy="347472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577840" y="1261872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Hedef Kullanici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0040" y="1609344"/>
            <a:ext cx="1645920" cy="438912"/>
          </a:xfrm>
          <a:prstGeom prst="rect">
            <a:avLst/>
          </a:prstGeom>
          <a:solidFill>
            <a:srgbClr val="15253A"/>
          </a:solidFill>
          <a:ln w="12700">
            <a:solidFill>
              <a:srgbClr val="1E3A5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93192" y="1645920"/>
            <a:ext cx="15361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Temel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1965960" y="1609344"/>
            <a:ext cx="1828800" cy="438912"/>
          </a:xfrm>
          <a:prstGeom prst="rect">
            <a:avLst/>
          </a:prstGeom>
          <a:solidFill>
            <a:srgbClr val="15253A"/>
          </a:solidFill>
          <a:ln w="12700">
            <a:solidFill>
              <a:srgbClr val="1E3A5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039112" y="1645920"/>
            <a:ext cx="17190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299 TRY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794760" y="1609344"/>
            <a:ext cx="1737360" cy="438912"/>
          </a:xfrm>
          <a:prstGeom prst="rect">
            <a:avLst/>
          </a:prstGeom>
          <a:solidFill>
            <a:srgbClr val="15253A"/>
          </a:solidFill>
          <a:ln w="12700">
            <a:solidFill>
              <a:srgbClr val="1E3A5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867912" y="1645920"/>
            <a:ext cx="16276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yazili mesaj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532120" y="1609344"/>
            <a:ext cx="3017520" cy="438912"/>
          </a:xfrm>
          <a:prstGeom prst="rect">
            <a:avLst/>
          </a:prstGeom>
          <a:solidFill>
            <a:srgbClr val="15253A"/>
          </a:solidFill>
          <a:ln w="12700">
            <a:solidFill>
              <a:srgbClr val="1E3A5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05272" y="1645920"/>
            <a:ext cx="29077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18-30, deneyen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20040" y="2066544"/>
            <a:ext cx="1645920" cy="438912"/>
          </a:xfrm>
          <a:prstGeom prst="rect">
            <a:avLst/>
          </a:prstGeom>
          <a:solidFill>
            <a:srgbClr val="1A2E40"/>
          </a:solidFill>
          <a:ln w="12700">
            <a:solidFill>
              <a:srgbClr val="1E3A5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93192" y="2103120"/>
            <a:ext cx="15361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Ses+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1965960" y="2066544"/>
            <a:ext cx="1828800" cy="438912"/>
          </a:xfrm>
          <a:prstGeom prst="rect">
            <a:avLst/>
          </a:prstGeom>
          <a:solidFill>
            <a:srgbClr val="1A2E40"/>
          </a:solidFill>
          <a:ln w="12700">
            <a:solidFill>
              <a:srgbClr val="1E3A5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039112" y="2103120"/>
            <a:ext cx="17190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499 TRY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794760" y="2066544"/>
            <a:ext cx="1737360" cy="438912"/>
          </a:xfrm>
          <a:prstGeom prst="rect">
            <a:avLst/>
          </a:prstGeom>
          <a:solidFill>
            <a:srgbClr val="1A2E40"/>
          </a:solidFill>
          <a:ln w="12700">
            <a:solidFill>
              <a:srgbClr val="1E3A5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867912" y="2103120"/>
            <a:ext cx="16276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ses + yazili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532120" y="2066544"/>
            <a:ext cx="3017520" cy="438912"/>
          </a:xfrm>
          <a:prstGeom prst="rect">
            <a:avLst/>
          </a:prstGeom>
          <a:solidFill>
            <a:srgbClr val="1A2E40"/>
          </a:solidFill>
          <a:ln w="12700">
            <a:solidFill>
              <a:srgbClr val="1E3A5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605272" y="2103120"/>
            <a:ext cx="29077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30-45, ana segment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20040" y="2523744"/>
            <a:ext cx="1645920" cy="438912"/>
          </a:xfrm>
          <a:prstGeom prst="rect">
            <a:avLst/>
          </a:prstGeom>
          <a:solidFill>
            <a:srgbClr val="15253A"/>
          </a:solidFill>
          <a:ln w="12700">
            <a:solidFill>
              <a:srgbClr val="1E3A5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93192" y="2560320"/>
            <a:ext cx="15361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Video+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1965960" y="2523744"/>
            <a:ext cx="1828800" cy="438912"/>
          </a:xfrm>
          <a:prstGeom prst="rect">
            <a:avLst/>
          </a:prstGeom>
          <a:solidFill>
            <a:srgbClr val="15253A"/>
          </a:solidFill>
          <a:ln w="12700">
            <a:solidFill>
              <a:srgbClr val="1E3A5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039112" y="2560320"/>
            <a:ext cx="17190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799 TRY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3794760" y="2523744"/>
            <a:ext cx="1737360" cy="438912"/>
          </a:xfrm>
          <a:prstGeom prst="rect">
            <a:avLst/>
          </a:prstGeom>
          <a:solidFill>
            <a:srgbClr val="15253A"/>
          </a:solidFill>
          <a:ln w="12700">
            <a:solidFill>
              <a:srgbClr val="1E3A5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867912" y="2560320"/>
            <a:ext cx="16276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video + ses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5532120" y="2523744"/>
            <a:ext cx="3017520" cy="438912"/>
          </a:xfrm>
          <a:prstGeom prst="rect">
            <a:avLst/>
          </a:prstGeom>
          <a:solidFill>
            <a:srgbClr val="15253A"/>
          </a:solidFill>
          <a:ln w="12700">
            <a:solidFill>
              <a:srgbClr val="1E3A5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605272" y="2560320"/>
            <a:ext cx="29077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45+, miras odakli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320040" y="2980944"/>
            <a:ext cx="1645920" cy="438912"/>
          </a:xfrm>
          <a:prstGeom prst="rect">
            <a:avLst/>
          </a:prstGeom>
          <a:solidFill>
            <a:srgbClr val="1A2E40"/>
          </a:solidFill>
          <a:ln w="12700">
            <a:solidFill>
              <a:srgbClr val="1E3A5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93192" y="3017520"/>
            <a:ext cx="15361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9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 Paket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1965960" y="2980944"/>
            <a:ext cx="1828800" cy="438912"/>
          </a:xfrm>
          <a:prstGeom prst="rect">
            <a:avLst/>
          </a:prstGeom>
          <a:solidFill>
            <a:srgbClr val="1A2E40"/>
          </a:solidFill>
          <a:ln w="12700">
            <a:solidFill>
              <a:srgbClr val="1E3A5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039112" y="3017520"/>
            <a:ext cx="17190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9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1.199 TRY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3794760" y="2980944"/>
            <a:ext cx="1737360" cy="438912"/>
          </a:xfrm>
          <a:prstGeom prst="rect">
            <a:avLst/>
          </a:prstGeom>
          <a:solidFill>
            <a:srgbClr val="1A2E40"/>
          </a:solidFill>
          <a:ln w="12700">
            <a:solidFill>
              <a:srgbClr val="1E3A5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867912" y="3017520"/>
            <a:ext cx="16276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9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Tum tipler + 6 mesaj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5532120" y="2980944"/>
            <a:ext cx="3017520" cy="438912"/>
          </a:xfrm>
          <a:prstGeom prst="rect">
            <a:avLst/>
          </a:prstGeom>
          <a:solidFill>
            <a:srgbClr val="1A2E40"/>
          </a:solidFill>
          <a:ln w="12700">
            <a:solidFill>
              <a:srgbClr val="1E3A5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605272" y="3017520"/>
            <a:ext cx="29077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9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Aile / kurumsal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320040" y="3520440"/>
            <a:ext cx="8503920" cy="658368"/>
          </a:xfrm>
          <a:prstGeom prst="rect">
            <a:avLst/>
          </a:prstGeom>
          <a:solidFill>
            <a:srgbClr val="0A1622"/>
          </a:solidFill>
          <a:ln w="12700">
            <a:solidFill>
              <a:srgbClr val="C8963E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57200" y="35661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9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B2B Kanal (Faz 2):  Hayat sigortasi sirketleri, bankalar ve noterler icin API / white-label entegrasyonu. Potansiyel: 10x kullanici biriminde ARPU artisi.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411480" y="429768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E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1.000 abone  →  ~600K TRY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3264408" y="429768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E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5.000 abone  →  ~3M TRY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6117336" y="429768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E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20.000 abone  →  ~12M TRY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8503920" y="48006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C8963E"/>
                </a:solidFill>
              </a:rPr>
              <a:t>COMPETITION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Vasi'nin Savunulabilir Pozisyonu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1965960" y="1234440"/>
            <a:ext cx="1417320" cy="502920"/>
          </a:xfrm>
          <a:prstGeom prst="rect">
            <a:avLst/>
          </a:prstGeom>
          <a:solidFill>
            <a:srgbClr val="0D1B2A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011680" y="1261872"/>
            <a:ext cx="1325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Olum Oncesi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Mesaj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383280" y="1234440"/>
            <a:ext cx="1417320" cy="502920"/>
          </a:xfrm>
          <a:prstGeom prst="rect">
            <a:avLst/>
          </a:prstGeom>
          <a:solidFill>
            <a:srgbClr val="0D1B2A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29000" y="1261872"/>
            <a:ext cx="1325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Turkce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Arayuz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800600" y="1234440"/>
            <a:ext cx="1417320" cy="502920"/>
          </a:xfrm>
          <a:prstGeom prst="rect">
            <a:avLst/>
          </a:prstGeom>
          <a:solidFill>
            <a:srgbClr val="0D1B2A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46320" y="1261872"/>
            <a:ext cx="1325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 Devlet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217920" y="1234440"/>
            <a:ext cx="1417320" cy="502920"/>
          </a:xfrm>
          <a:prstGeom prst="rect">
            <a:avLst/>
          </a:prstGeom>
          <a:solidFill>
            <a:srgbClr val="0D1B2A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63640" y="1261872"/>
            <a:ext cx="1325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Yas Bazli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Mesajlasma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7635240" y="1234440"/>
            <a:ext cx="1417320" cy="502920"/>
          </a:xfrm>
          <a:prstGeom prst="rect">
            <a:avLst/>
          </a:prstGeom>
          <a:solidFill>
            <a:srgbClr val="0D1B2A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680960" y="1261872"/>
            <a:ext cx="1325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Yerel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Fiyatlandirma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20040" y="1737360"/>
            <a:ext cx="16459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FF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3192" y="1828800"/>
            <a:ext cx="15361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SafeBeyond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1965960" y="1737360"/>
            <a:ext cx="14173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FF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965960" y="1810512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3383280" y="1737360"/>
            <a:ext cx="14173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FF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83280" y="1810512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✘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4800600" y="1737360"/>
            <a:ext cx="14173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FF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00600" y="1810512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✘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217920" y="1737360"/>
            <a:ext cx="14173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FF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17920" y="1810512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✘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7635240" y="1737360"/>
            <a:ext cx="14173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FF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635240" y="1810512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✘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320040" y="2240280"/>
            <a:ext cx="1645920" cy="502920"/>
          </a:xfrm>
          <a:prstGeom prst="rect">
            <a:avLst/>
          </a:prstGeom>
          <a:solidFill>
            <a:srgbClr val="F0F4F8"/>
          </a:solidFill>
          <a:ln w="12700">
            <a:solidFill>
              <a:srgbClr val="E8EFF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93192" y="2331720"/>
            <a:ext cx="15361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MyHeartspace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1965960" y="2240280"/>
            <a:ext cx="1417320" cy="502920"/>
          </a:xfrm>
          <a:prstGeom prst="rect">
            <a:avLst/>
          </a:prstGeom>
          <a:solidFill>
            <a:srgbClr val="F0F4F8"/>
          </a:solidFill>
          <a:ln w="12700">
            <a:solidFill>
              <a:srgbClr val="E8EFF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965960" y="2313432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3383280" y="2240280"/>
            <a:ext cx="1417320" cy="502920"/>
          </a:xfrm>
          <a:prstGeom prst="rect">
            <a:avLst/>
          </a:prstGeom>
          <a:solidFill>
            <a:srgbClr val="F0F4F8"/>
          </a:solidFill>
          <a:ln w="12700">
            <a:solidFill>
              <a:srgbClr val="E8EFF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383280" y="2313432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✘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4800600" y="2240280"/>
            <a:ext cx="1417320" cy="502920"/>
          </a:xfrm>
          <a:prstGeom prst="rect">
            <a:avLst/>
          </a:prstGeom>
          <a:solidFill>
            <a:srgbClr val="F0F4F8"/>
          </a:solidFill>
          <a:ln w="12700">
            <a:solidFill>
              <a:srgbClr val="E8EFF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00600" y="2313432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✘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6217920" y="2240280"/>
            <a:ext cx="1417320" cy="502920"/>
          </a:xfrm>
          <a:prstGeom prst="rect">
            <a:avLst/>
          </a:prstGeom>
          <a:solidFill>
            <a:srgbClr val="F0F4F8"/>
          </a:solidFill>
          <a:ln w="12700">
            <a:solidFill>
              <a:srgbClr val="E8EFF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217920" y="2313432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✘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7635240" y="2240280"/>
            <a:ext cx="1417320" cy="502920"/>
          </a:xfrm>
          <a:prstGeom prst="rect">
            <a:avLst/>
          </a:prstGeom>
          <a:solidFill>
            <a:srgbClr val="F0F4F8"/>
          </a:solidFill>
          <a:ln w="12700">
            <a:solidFill>
              <a:srgbClr val="E8EFF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635240" y="2313432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✘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320040" y="2743200"/>
            <a:ext cx="16459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FF5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93192" y="2834640"/>
            <a:ext cx="15361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GoodTrust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1965960" y="2743200"/>
            <a:ext cx="14173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FF5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965960" y="2816352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✘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3383280" y="2743200"/>
            <a:ext cx="14173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FF5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383280" y="2816352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✘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4800600" y="2743200"/>
            <a:ext cx="14173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FF5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800600" y="2816352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✘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6217920" y="2743200"/>
            <a:ext cx="14173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FF5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217920" y="2816352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✘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7635240" y="2743200"/>
            <a:ext cx="14173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FF5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635240" y="2816352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✘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320040" y="3246120"/>
            <a:ext cx="1645920" cy="502920"/>
          </a:xfrm>
          <a:prstGeom prst="rect">
            <a:avLst/>
          </a:prstGeom>
          <a:solidFill>
            <a:srgbClr val="F0F4F8"/>
          </a:solidFill>
          <a:ln w="12700">
            <a:solidFill>
              <a:srgbClr val="E8EFF5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93192" y="3337560"/>
            <a:ext cx="15361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Simmortals (TR)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1965960" y="3246120"/>
            <a:ext cx="1417320" cy="502920"/>
          </a:xfrm>
          <a:prstGeom prst="rect">
            <a:avLst/>
          </a:prstGeom>
          <a:solidFill>
            <a:srgbClr val="F0F4F8"/>
          </a:solidFill>
          <a:ln w="12700">
            <a:solidFill>
              <a:srgbClr val="E8EFF5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965960" y="3319272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✘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3383280" y="3246120"/>
            <a:ext cx="1417320" cy="502920"/>
          </a:xfrm>
          <a:prstGeom prst="rect">
            <a:avLst/>
          </a:prstGeom>
          <a:solidFill>
            <a:srgbClr val="F0F4F8"/>
          </a:solidFill>
          <a:ln w="12700">
            <a:solidFill>
              <a:srgbClr val="E8EFF5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383280" y="3319272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4800600" y="3246120"/>
            <a:ext cx="1417320" cy="502920"/>
          </a:xfrm>
          <a:prstGeom prst="rect">
            <a:avLst/>
          </a:prstGeom>
          <a:solidFill>
            <a:srgbClr val="F0F4F8"/>
          </a:solidFill>
          <a:ln w="12700">
            <a:solidFill>
              <a:srgbClr val="E8EFF5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800600" y="3319272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✘</a:t>
            </a:r>
            <a:endParaRPr lang="en-US" sz="1600" dirty="0"/>
          </a:p>
        </p:txBody>
      </p:sp>
      <p:sp>
        <p:nvSpPr>
          <p:cNvPr id="59" name="Shape 57"/>
          <p:cNvSpPr/>
          <p:nvPr/>
        </p:nvSpPr>
        <p:spPr>
          <a:xfrm>
            <a:off x="6217920" y="3246120"/>
            <a:ext cx="1417320" cy="502920"/>
          </a:xfrm>
          <a:prstGeom prst="rect">
            <a:avLst/>
          </a:prstGeom>
          <a:solidFill>
            <a:srgbClr val="F0F4F8"/>
          </a:solidFill>
          <a:ln w="12700">
            <a:solidFill>
              <a:srgbClr val="E8EFF5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217920" y="3319272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✘</a:t>
            </a:r>
            <a:endParaRPr lang="en-US" sz="1600" dirty="0"/>
          </a:p>
        </p:txBody>
      </p:sp>
      <p:sp>
        <p:nvSpPr>
          <p:cNvPr id="61" name="Shape 59"/>
          <p:cNvSpPr/>
          <p:nvPr/>
        </p:nvSpPr>
        <p:spPr>
          <a:xfrm>
            <a:off x="7635240" y="3246120"/>
            <a:ext cx="1417320" cy="502920"/>
          </a:xfrm>
          <a:prstGeom prst="rect">
            <a:avLst/>
          </a:prstGeom>
          <a:solidFill>
            <a:srgbClr val="F0F4F8"/>
          </a:solidFill>
          <a:ln w="12700">
            <a:solidFill>
              <a:srgbClr val="E8EFF5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7635240" y="3319272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✘</a:t>
            </a:r>
            <a:endParaRPr lang="en-US" sz="1600" dirty="0"/>
          </a:p>
        </p:txBody>
      </p:sp>
      <p:sp>
        <p:nvSpPr>
          <p:cNvPr id="63" name="Shape 61"/>
          <p:cNvSpPr/>
          <p:nvPr/>
        </p:nvSpPr>
        <p:spPr>
          <a:xfrm>
            <a:off x="320040" y="3749040"/>
            <a:ext cx="1645920" cy="502920"/>
          </a:xfrm>
          <a:prstGeom prst="rect">
            <a:avLst/>
          </a:prstGeom>
          <a:solidFill>
            <a:srgbClr val="C8963E"/>
          </a:solidFill>
          <a:ln w="12700">
            <a:solidFill>
              <a:srgbClr val="E8EFF5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393192" y="3840480"/>
            <a:ext cx="15361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VASI</a:t>
            </a:r>
            <a:endParaRPr lang="en-US" sz="1100" dirty="0"/>
          </a:p>
        </p:txBody>
      </p:sp>
      <p:sp>
        <p:nvSpPr>
          <p:cNvPr id="65" name="Shape 63"/>
          <p:cNvSpPr/>
          <p:nvPr/>
        </p:nvSpPr>
        <p:spPr>
          <a:xfrm>
            <a:off x="1965960" y="3749040"/>
            <a:ext cx="1417320" cy="502920"/>
          </a:xfrm>
          <a:prstGeom prst="rect">
            <a:avLst/>
          </a:prstGeom>
          <a:solidFill>
            <a:srgbClr val="C8963E"/>
          </a:solidFill>
          <a:ln w="12700">
            <a:solidFill>
              <a:srgbClr val="E8EFF5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1965960" y="3822192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1600" dirty="0"/>
          </a:p>
        </p:txBody>
      </p:sp>
      <p:sp>
        <p:nvSpPr>
          <p:cNvPr id="67" name="Shape 65"/>
          <p:cNvSpPr/>
          <p:nvPr/>
        </p:nvSpPr>
        <p:spPr>
          <a:xfrm>
            <a:off x="3383280" y="3749040"/>
            <a:ext cx="1417320" cy="502920"/>
          </a:xfrm>
          <a:prstGeom prst="rect">
            <a:avLst/>
          </a:prstGeom>
          <a:solidFill>
            <a:srgbClr val="C8963E"/>
          </a:solidFill>
          <a:ln w="12700">
            <a:solidFill>
              <a:srgbClr val="E8EFF5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3383280" y="3822192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1600" dirty="0"/>
          </a:p>
        </p:txBody>
      </p:sp>
      <p:sp>
        <p:nvSpPr>
          <p:cNvPr id="69" name="Shape 67"/>
          <p:cNvSpPr/>
          <p:nvPr/>
        </p:nvSpPr>
        <p:spPr>
          <a:xfrm>
            <a:off x="4800600" y="3749040"/>
            <a:ext cx="1417320" cy="502920"/>
          </a:xfrm>
          <a:prstGeom prst="rect">
            <a:avLst/>
          </a:prstGeom>
          <a:solidFill>
            <a:srgbClr val="C8963E"/>
          </a:solidFill>
          <a:ln w="12700">
            <a:solidFill>
              <a:srgbClr val="E8EFF5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4800600" y="3822192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1600" dirty="0"/>
          </a:p>
        </p:txBody>
      </p:sp>
      <p:sp>
        <p:nvSpPr>
          <p:cNvPr id="71" name="Shape 69"/>
          <p:cNvSpPr/>
          <p:nvPr/>
        </p:nvSpPr>
        <p:spPr>
          <a:xfrm>
            <a:off x="6217920" y="3749040"/>
            <a:ext cx="1417320" cy="502920"/>
          </a:xfrm>
          <a:prstGeom prst="rect">
            <a:avLst/>
          </a:prstGeom>
          <a:solidFill>
            <a:srgbClr val="C8963E"/>
          </a:solidFill>
          <a:ln w="12700">
            <a:solidFill>
              <a:srgbClr val="E8EFF5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6217920" y="3822192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1600" dirty="0"/>
          </a:p>
        </p:txBody>
      </p:sp>
      <p:sp>
        <p:nvSpPr>
          <p:cNvPr id="73" name="Shape 71"/>
          <p:cNvSpPr/>
          <p:nvPr/>
        </p:nvSpPr>
        <p:spPr>
          <a:xfrm>
            <a:off x="7635240" y="3749040"/>
            <a:ext cx="1417320" cy="502920"/>
          </a:xfrm>
          <a:prstGeom prst="rect">
            <a:avLst/>
          </a:prstGeom>
          <a:solidFill>
            <a:srgbClr val="C8963E"/>
          </a:solidFill>
          <a:ln w="12700">
            <a:solidFill>
              <a:srgbClr val="E8EFF5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7635240" y="3822192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1600" dirty="0"/>
          </a:p>
        </p:txBody>
      </p:sp>
      <p:sp>
        <p:nvSpPr>
          <p:cNvPr id="75" name="Text 73"/>
          <p:cNvSpPr/>
          <p:nvPr/>
        </p:nvSpPr>
        <p:spPr>
          <a:xfrm>
            <a:off x="365760" y="461772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Vasi, Turkiye'ye ozgu devlet API entegrasyonu ve yas segmenti mesajlasmasi ile tek tam-stack yerel cozumdur.</a:t>
            </a:r>
            <a:endParaRPr lang="en-US" sz="1000" dirty="0"/>
          </a:p>
        </p:txBody>
      </p:sp>
      <p:sp>
        <p:nvSpPr>
          <p:cNvPr id="76" name="Text 74"/>
          <p:cNvSpPr/>
          <p:nvPr/>
        </p:nvSpPr>
        <p:spPr>
          <a:xfrm>
            <a:off x="8503920" y="48006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8963E"/>
          </a:solidFill>
          <a:ln w="12700">
            <a:solidFill>
              <a:srgbClr val="C896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C8963E"/>
                </a:solidFill>
              </a:rPr>
              <a:t>VALIDATION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A/B Test: Pazar Dogrulandi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1280160"/>
            <a:ext cx="2743200" cy="3383280"/>
          </a:xfrm>
          <a:prstGeom prst="rect">
            <a:avLst/>
          </a:prstGeom>
          <a:solidFill>
            <a:srgbClr val="122030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280160"/>
            <a:ext cx="2743200" cy="457200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32588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18-30 yas  |  "Iz Birakanlar"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29768" y="1874520"/>
            <a:ext cx="2523744" cy="685800"/>
          </a:xfrm>
          <a:prstGeom prst="rect">
            <a:avLst/>
          </a:prstGeom>
          <a:solidFill>
            <a:srgbClr val="1A2D40"/>
          </a:solidFill>
          <a:ln w="12700">
            <a:solidFill>
              <a:srgbClr val="1E3A5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920240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E8E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"5 sene sonraki sene ne soylemek isterdin?"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29768" y="2697480"/>
            <a:ext cx="2523744" cy="685800"/>
          </a:xfrm>
          <a:prstGeom prst="rect">
            <a:avLst/>
          </a:prstGeom>
          <a:solidFill>
            <a:srgbClr val="1A2D40"/>
          </a:solidFill>
          <a:ln w="12700">
            <a:solidFill>
              <a:srgbClr val="1E3A5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743200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E8E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"Cok icimde kaldi sancisindan kurtul."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29768" y="3520440"/>
            <a:ext cx="2523744" cy="685800"/>
          </a:xfrm>
          <a:prstGeom prst="rect">
            <a:avLst/>
          </a:prstGeom>
          <a:solidFill>
            <a:srgbClr val="1A2D40"/>
          </a:solidFill>
          <a:ln w="12700">
            <a:solidFill>
              <a:srgbClr val="1E3A5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3566160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E8E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"Zamanda iz birak"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27832" y="1280160"/>
            <a:ext cx="2743200" cy="3383280"/>
          </a:xfrm>
          <a:prstGeom prst="rect">
            <a:avLst/>
          </a:prstGeom>
          <a:solidFill>
            <a:srgbClr val="122030"/>
          </a:solidFill>
          <a:ln w="12700">
            <a:solidFill>
              <a:srgbClr val="C8963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27832" y="1280160"/>
            <a:ext cx="2743200" cy="457200"/>
          </a:xfrm>
          <a:prstGeom prst="rect">
            <a:avLst/>
          </a:prstGeom>
          <a:solidFill>
            <a:srgbClr val="C8963E"/>
          </a:solidFill>
          <a:ln w="12700">
            <a:solidFill>
              <a:srgbClr val="C8963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19272" y="132588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30-45 yas  |  "Hesaplasanlar"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337560" y="1874520"/>
            <a:ext cx="2523744" cy="685800"/>
          </a:xfrm>
          <a:prstGeom prst="rect">
            <a:avLst/>
          </a:prstGeom>
          <a:solidFill>
            <a:srgbClr val="1A2D40"/>
          </a:solidFill>
          <a:ln w="12700">
            <a:solidFill>
              <a:srgbClr val="1E3A5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10712" y="1920240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E8E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"Soylenmemis soz kalmasin!"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337560" y="2697480"/>
            <a:ext cx="2523744" cy="685800"/>
          </a:xfrm>
          <a:prstGeom prst="rect">
            <a:avLst/>
          </a:prstGeom>
          <a:solidFill>
            <a:srgbClr val="1A2D40"/>
          </a:solidFill>
          <a:ln w="12700">
            <a:solidFill>
              <a:srgbClr val="1E3A5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10712" y="2743200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E8E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"5 sene sonraki kendine ne soylemek isterdin?"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135624" y="1280160"/>
            <a:ext cx="2743200" cy="3383280"/>
          </a:xfrm>
          <a:prstGeom prst="rect">
            <a:avLst/>
          </a:prstGeom>
          <a:solidFill>
            <a:srgbClr val="122030"/>
          </a:solidFill>
          <a:ln w="12700">
            <a:solidFill>
              <a:srgbClr val="5B8DB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135624" y="1280160"/>
            <a:ext cx="2743200" cy="457200"/>
          </a:xfrm>
          <a:prstGeom prst="rect">
            <a:avLst/>
          </a:prstGeom>
          <a:solidFill>
            <a:srgbClr val="5B8DB8"/>
          </a:solidFill>
          <a:ln w="12700">
            <a:solidFill>
              <a:srgbClr val="5B8DB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27064" y="132588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45+ yas  |  "Miras Birakanlar"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245352" y="1874520"/>
            <a:ext cx="2523744" cy="685800"/>
          </a:xfrm>
          <a:prstGeom prst="rect">
            <a:avLst/>
          </a:prstGeom>
          <a:solidFill>
            <a:srgbClr val="1A2D40"/>
          </a:solidFill>
          <a:ln w="12700">
            <a:solidFill>
              <a:srgbClr val="1E3A5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18504" y="1920240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E8E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"Herkesten helallik aldiniz mi?"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245352" y="2697480"/>
            <a:ext cx="2523744" cy="685800"/>
          </a:xfrm>
          <a:prstGeom prst="rect">
            <a:avLst/>
          </a:prstGeom>
          <a:solidFill>
            <a:srgbClr val="1A2D40"/>
          </a:solidFill>
          <a:ln w="12700">
            <a:solidFill>
              <a:srgbClr val="1E3A5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18504" y="2743200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E8E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"Sevdiklerinize nasihat birakin."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65760" y="475488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E8E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Sonuc: 3 farkli yas dilimi icin ayrismis mesaj motivasyonlari dogrulandi. Platform icerik stratejisi bu bulgular uzerine insa edildi.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8503920" y="48006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C8963E"/>
                </a:solidFill>
              </a:rPr>
              <a:t>GO-TO-MARKET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Buyume Stratejisi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1234440"/>
            <a:ext cx="850392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FF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234440"/>
            <a:ext cx="64008" cy="1097280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" y="1307592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Faz 1  —  Awareness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1563624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Instagram &amp; TikTok: Yas segmenti duygusal kisa videolar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02920" y="1801368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Google Ads: "Veda mesaji", "sevdiklerime mesaj" niyet arama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2920" y="2039112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PR: "Turkiye'nin ilk dijital miras platformu" hikayesi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0040" y="2468880"/>
            <a:ext cx="850392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FF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0040" y="2468880"/>
            <a:ext cx="64008" cy="1097280"/>
          </a:xfrm>
          <a:prstGeom prst="rect">
            <a:avLst/>
          </a:prstGeom>
          <a:solidFill>
            <a:srgbClr val="C8963E"/>
          </a:solidFill>
          <a:ln w="12700">
            <a:solidFill>
              <a:srgbClr val="C8963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" y="2542032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89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Faz 2  —  Acquisition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02920" y="2798064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Referans programi: Her kayita 1 ay ucretsiz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02920" y="3035808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YouTube: Uzun form anlatimlar (45+ segment)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02920" y="3273552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Influencer: aile, psikoloji, minimalizm nisleri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20040" y="3703320"/>
            <a:ext cx="850392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FF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0040" y="3703320"/>
            <a:ext cx="64008" cy="10972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5488" y="3776472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Faz 3  —  B2B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02920" y="4032504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Hayat sigortasi sirketleri: Poliçe eki olarak Vasi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02920" y="4270248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Noterlerin dijital miras danismanlik ortakligi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02920" y="4507992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Diaspora kanallar: DE, NL, AU Turk topluluklar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8503920" y="48006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C8963E"/>
                </a:solidFill>
              </a:rPr>
              <a:t>ROADMAP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 Haritasi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1481328"/>
            <a:ext cx="8503920" cy="54864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43000" y="1325880"/>
            <a:ext cx="347472" cy="347472"/>
          </a:xfrm>
          <a:prstGeom prst="oval">
            <a:avLst/>
          </a:prstGeom>
          <a:solidFill>
            <a:srgbClr val="C8963E"/>
          </a:solidFill>
          <a:ln w="12700">
            <a:solidFill>
              <a:srgbClr val="C8963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828800"/>
            <a:ext cx="2011680" cy="2606040"/>
          </a:xfrm>
          <a:prstGeom prst="rect">
            <a:avLst/>
          </a:prstGeom>
          <a:solidFill>
            <a:srgbClr val="15253A"/>
          </a:solidFill>
          <a:ln w="12700">
            <a:solidFill>
              <a:srgbClr val="C8963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" y="1828800"/>
            <a:ext cx="2011680" cy="54864"/>
          </a:xfrm>
          <a:prstGeom prst="rect">
            <a:avLst/>
          </a:prstGeom>
          <a:solidFill>
            <a:srgbClr val="C8963E"/>
          </a:solidFill>
          <a:ln w="12700">
            <a:solidFill>
              <a:srgbClr val="C8963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92024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89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2026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11480" y="21945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Beta MVP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11480" y="256032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Yazili + sesli mesaj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11480" y="2999232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iOS &amp; Android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11480" y="3438144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Mock olum teyidi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11480" y="3877056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Temel + Ses+ plan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319272" y="1325880"/>
            <a:ext cx="347472" cy="347472"/>
          </a:xfrm>
          <a:prstGeom prst="oval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496312" y="1828800"/>
            <a:ext cx="2011680" cy="2606040"/>
          </a:xfrm>
          <a:prstGeom prst="rect">
            <a:avLst/>
          </a:prstGeom>
          <a:solidFill>
            <a:srgbClr val="15253A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496312" y="1828800"/>
            <a:ext cx="2011680" cy="54864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87752" y="192024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2026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587752" y="21945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Genel Cikis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587752" y="256032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Video mesaj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2587752" y="2999232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Tam Paket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2587752" y="3438144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NVI API gorusmeler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2587752" y="3877056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1.000 kullanici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5495544" y="1325880"/>
            <a:ext cx="347472" cy="347472"/>
          </a:xfrm>
          <a:prstGeom prst="oval">
            <a:avLst/>
          </a:prstGeom>
          <a:solidFill>
            <a:srgbClr val="5B8DB8"/>
          </a:solidFill>
          <a:ln w="12700">
            <a:solidFill>
              <a:srgbClr val="5B8DB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672584" y="1828800"/>
            <a:ext cx="2011680" cy="2606040"/>
          </a:xfrm>
          <a:prstGeom prst="rect">
            <a:avLst/>
          </a:prstGeom>
          <a:solidFill>
            <a:srgbClr val="15253A"/>
          </a:solidFill>
          <a:ln w="12700">
            <a:solidFill>
              <a:srgbClr val="5B8DB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672584" y="1828800"/>
            <a:ext cx="2011680" cy="54864"/>
          </a:xfrm>
          <a:prstGeom prst="rect">
            <a:avLst/>
          </a:prstGeom>
          <a:solidFill>
            <a:srgbClr val="5B8DB8"/>
          </a:solidFill>
          <a:ln w="12700">
            <a:solidFill>
              <a:srgbClr val="5B8DB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64024" y="192024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B8D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2027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764024" y="21945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Buyume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764024" y="256032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B2B sigorta pilot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4764024" y="2999232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Referans sistemi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4764024" y="3438144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10.000 kullanici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4764024" y="3877056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ARR: 6M TRY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7671816" y="1325880"/>
            <a:ext cx="347472" cy="347472"/>
          </a:xfrm>
          <a:prstGeom prst="oval">
            <a:avLst/>
          </a:prstGeom>
          <a:solidFill>
            <a:srgbClr val="C8963E"/>
          </a:solidFill>
          <a:ln w="12700">
            <a:solidFill>
              <a:srgbClr val="C8963E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848856" y="1828800"/>
            <a:ext cx="2011680" cy="2606040"/>
          </a:xfrm>
          <a:prstGeom prst="rect">
            <a:avLst/>
          </a:prstGeom>
          <a:solidFill>
            <a:srgbClr val="15253A"/>
          </a:solidFill>
          <a:ln w="12700">
            <a:solidFill>
              <a:srgbClr val="C8963E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848856" y="1828800"/>
            <a:ext cx="2011680" cy="54864"/>
          </a:xfrm>
          <a:prstGeom prst="rect">
            <a:avLst/>
          </a:prstGeom>
          <a:solidFill>
            <a:srgbClr val="C8963E"/>
          </a:solidFill>
          <a:ln w="12700">
            <a:solidFill>
              <a:srgbClr val="C8963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940296" y="192024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89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2027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940296" y="21945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6940296" y="256032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EN dil destegi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6940296" y="2999232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Diaspora pazari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6940296" y="3438144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Seri A hazirlik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6940296" y="3877056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ARR: 24M TRY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8503920" y="48006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8963E"/>
          </a:solidFill>
          <a:ln w="12700">
            <a:solidFill>
              <a:srgbClr val="C896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C8963E"/>
                </a:solidFill>
              </a:rPr>
              <a:t>TEAM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Kurucular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" y="1234440"/>
            <a:ext cx="402336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FF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417320"/>
            <a:ext cx="1097280" cy="1097280"/>
          </a:xfrm>
          <a:prstGeom prst="oval">
            <a:avLst/>
          </a:prstGeom>
          <a:solidFill>
            <a:srgbClr val="E8EFF5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463040"/>
            <a:ext cx="1097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1691640" y="137160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 Soyad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691640" y="1709928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CEO / Kurucu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691640" y="2011680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CEO; [Sektorel deneyim / arka plan]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617720" y="1234440"/>
            <a:ext cx="402336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FF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800600" y="1417320"/>
            <a:ext cx="1097280" cy="1097280"/>
          </a:xfrm>
          <a:prstGeom prst="oval">
            <a:avLst/>
          </a:prstGeom>
          <a:solidFill>
            <a:srgbClr val="E8EFF5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00600" y="1463040"/>
            <a:ext cx="1097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6035040" y="137160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 Soyad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035040" y="1709928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CTO / Teknik Kurucu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035040" y="2011680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Backend, mobil, guvenlik mimarisi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74320" y="3063240"/>
            <a:ext cx="402336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FF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3246120"/>
            <a:ext cx="1097280" cy="1097280"/>
          </a:xfrm>
          <a:prstGeom prst="oval">
            <a:avLst/>
          </a:prstGeom>
          <a:solidFill>
            <a:srgbClr val="E8EFF5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3291840"/>
            <a:ext cx="1097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1691640" y="320040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 Soyad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691640" y="3538728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CMO / Buyume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691640" y="3840480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hacking, yas segmenti pazarlama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617720" y="3063240"/>
            <a:ext cx="402336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FF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800600" y="3246120"/>
            <a:ext cx="1097280" cy="1097280"/>
          </a:xfrm>
          <a:prstGeom prst="oval">
            <a:avLst/>
          </a:prstGeom>
          <a:solidFill>
            <a:srgbClr val="E8EFF5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00600" y="3291840"/>
            <a:ext cx="1097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6035040" y="320040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 Soyad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035040" y="3538728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Hukuk Danismani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035040" y="3840480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KVKK, NVI anlasmalari, veri hukuku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365760" y="466344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Ekip detaylari tamamlanacak. Danismanlar ve yatirimci agina iliskin bilgi talep uzerine paylasiliabilir.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8503920" y="48006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8963E"/>
          </a:solidFill>
          <a:ln w="12700">
            <a:solidFill>
              <a:srgbClr val="C896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C8963E"/>
                </a:solidFill>
              </a:rPr>
              <a:t>THE ASK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Yatirim Talebi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3657600" cy="1645920"/>
          </a:xfrm>
          <a:prstGeom prst="rect">
            <a:avLst/>
          </a:prstGeom>
          <a:solidFill>
            <a:srgbClr val="0A1A2A"/>
          </a:solidFill>
          <a:ln w="12700">
            <a:solidFill>
              <a:srgbClr val="C8963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371600"/>
            <a:ext cx="3474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C89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$XXX K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457200" y="2176272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8E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Pre-Seed Round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0" y="118872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9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Fonun Kullanimi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0" y="1600200"/>
            <a:ext cx="4206240" cy="502920"/>
          </a:xfrm>
          <a:prstGeom prst="rect">
            <a:avLst/>
          </a:prstGeom>
          <a:solidFill>
            <a:srgbClr val="15253A"/>
          </a:solidFill>
          <a:ln w="12700">
            <a:solidFill>
              <a:srgbClr val="1E3A5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0" y="1600200"/>
            <a:ext cx="640080" cy="502920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0" y="1645920"/>
            <a:ext cx="640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%40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285232" y="1664208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Teknik Gelistirme — MVP (iOS, Android, Web, API)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0" y="2194560"/>
            <a:ext cx="4206240" cy="502920"/>
          </a:xfrm>
          <a:prstGeom prst="rect">
            <a:avLst/>
          </a:prstGeom>
          <a:solidFill>
            <a:srgbClr val="15253A"/>
          </a:solidFill>
          <a:ln w="12700">
            <a:solidFill>
              <a:srgbClr val="1E3A5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0" y="2194560"/>
            <a:ext cx="640080" cy="502920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0" y="2240280"/>
            <a:ext cx="640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%25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285232" y="2258568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Pazarlama — Dijital kampanya, ilk 1.000 kullanici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0" y="2788920"/>
            <a:ext cx="4206240" cy="502920"/>
          </a:xfrm>
          <a:prstGeom prst="rect">
            <a:avLst/>
          </a:prstGeom>
          <a:solidFill>
            <a:srgbClr val="15253A"/>
          </a:solidFill>
          <a:ln w="12700">
            <a:solidFill>
              <a:srgbClr val="1E3A5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0" y="2788920"/>
            <a:ext cx="640080" cy="502920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0" y="2834640"/>
            <a:ext cx="640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%20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285232" y="2852928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Hukuk &amp; Uyum — KVKK, NVI protokol, sozlesmeler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0" y="3383280"/>
            <a:ext cx="4206240" cy="502920"/>
          </a:xfrm>
          <a:prstGeom prst="rect">
            <a:avLst/>
          </a:prstGeom>
          <a:solidFill>
            <a:srgbClr val="15253A"/>
          </a:solidFill>
          <a:ln w="12700">
            <a:solidFill>
              <a:srgbClr val="1E3A5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72000" y="3383280"/>
            <a:ext cx="640080" cy="502920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0" y="3429000"/>
            <a:ext cx="640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%15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285232" y="3447288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Operasyon — Takim, altyapi, muhasebe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65760" y="3063240"/>
            <a:ext cx="8412480" cy="777240"/>
          </a:xfrm>
          <a:prstGeom prst="rect">
            <a:avLst/>
          </a:prstGeom>
          <a:solidFill>
            <a:srgbClr val="0A1622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8640" y="31546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Hedef Milestone (18 ay):  1.000 Beta kullanicisi → Genel cikis → 5.000 odeme yapan kullanici → ARR breakeven → Seri A hazirlik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65760" y="411480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89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iletisim:  vasi@vasiapp.com  |  vasiapp.com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8503920" y="48006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C8963E"/>
          </a:solidFill>
          <a:ln w="12700">
            <a:solidFill>
              <a:srgbClr val="C896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006840" y="0"/>
            <a:ext cx="137160" cy="5143500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37160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spc="1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VASI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914400" y="260604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C89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"Sevgin yasamaya devam etsin."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2286000" y="3291840"/>
            <a:ext cx="4572000" cy="27432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34290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8E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vasiapp.com  |  vasi@vasiapp.com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46634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7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Mayis 2026  |  Gizli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Vasi App — Investor Pitch Deck</dc:title>
  <dc:subject>PptxGenJS Presentation</dc:subject>
  <dc:creator>Vasi App</dc:creator>
  <cp:lastModifiedBy>Vasi App</cp:lastModifiedBy>
  <cp:revision>1</cp:revision>
  <dcterms:created xsi:type="dcterms:W3CDTF">2026-05-25T08:59:10Z</dcterms:created>
  <dcterms:modified xsi:type="dcterms:W3CDTF">2026-05-25T08:59:10Z</dcterms:modified>
</cp:coreProperties>
</file>